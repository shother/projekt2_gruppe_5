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bold r:id="rId15"/>
      <p:boldItalic r:id="rId16"/>
    </p:embeddedFont>
    <p:embeddedFont>
      <p:font typeface="Roboto SemiBol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slide" Target="slides/slide9.xml"/><Relationship Id="rId17" Type="http://schemas.openxmlformats.org/officeDocument/2006/relationships/font" Target="fonts/RobotoSemiBold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miBold-italic.fntdata"/><Relationship Id="rId6" Type="http://schemas.openxmlformats.org/officeDocument/2006/relationships/slide" Target="slides/slide1.xml"/><Relationship Id="rId18" Type="http://schemas.openxmlformats.org/officeDocument/2006/relationships/font" Target="fonts/Roboto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73af312a7_0_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73af312a7_0_1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5d528f6c_18_1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7579d9dc4_2_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3af312a7_0_3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75d528f6c_18_3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73af312a7_0_7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73af312a7_0_9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73af312a7_0_10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73af312a7_9_0)">
  <p:cSld name="Generated (g3d73af312a7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5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lean, minimalist high-tech workspace with a tablet showing a digital gift list application. Soft blue and white tones, professional aesthetic." id="56" name="Google Shape;56;p14"/>
          <p:cNvPicPr preferRelativeResize="0"/>
          <p:nvPr/>
        </p:nvPicPr>
        <p:blipFill rotWithShape="1">
          <a:blip r:embed="rId4">
            <a:alphaModFix/>
          </a:blip>
          <a:srcRect b="3976" l="0" r="0" t="3976"/>
          <a:stretch/>
        </p:blipFill>
        <p:spPr>
          <a:xfrm>
            <a:off x="4953000" y="0"/>
            <a:ext cx="4191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1A237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5715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7986C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1143000"/>
            <a:ext cx="4000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Den Digitale Ønskeseddel</a:t>
            </a:r>
            <a:endParaRPr b="1" sz="440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571500" y="257175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71500" y="2809875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5C6BC0"/>
                </a:solidFill>
                <a:latin typeface="Roboto"/>
                <a:ea typeface="Roboto"/>
                <a:cs typeface="Roboto"/>
                <a:sym typeface="Roboto"/>
              </a:rPr>
              <a:t>Gruppe 5 | Miniprojekt </a:t>
            </a:r>
            <a:r>
              <a:rPr lang="en" sz="1800">
                <a:solidFill>
                  <a:srgbClr val="5C6BC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5C6B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5C6BC0"/>
                </a:solidFill>
                <a:latin typeface="Roboto"/>
                <a:ea typeface="Roboto"/>
                <a:cs typeface="Roboto"/>
                <a:sym typeface="Roboto"/>
              </a:rPr>
              <a:t>2. Semester</a:t>
            </a:r>
            <a:br>
              <a:rPr b="0" lang="en" sz="1800">
                <a:solidFill>
                  <a:srgbClr val="5C6BC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800">
                <a:solidFill>
                  <a:srgbClr val="5C6BC0"/>
                </a:solidFill>
                <a:latin typeface="Roboto"/>
                <a:ea typeface="Roboto"/>
                <a:cs typeface="Roboto"/>
                <a:sym typeface="Roboto"/>
              </a:rPr>
              <a:t>Datamatiker EK</a:t>
            </a:r>
            <a:endParaRPr b="0" sz="1800">
              <a:solidFill>
                <a:srgbClr val="5C6BC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333450" y="3714756"/>
            <a:ext cx="4000500" cy="1299591"/>
            <a:chOff x="571500" y="3905250"/>
            <a:chExt cx="4000500" cy="762000"/>
          </a:xfrm>
        </p:grpSpPr>
        <p:sp>
          <p:nvSpPr>
            <p:cNvPr id="63" name="Google Shape;63;p14"/>
            <p:cNvSpPr/>
            <p:nvPr/>
          </p:nvSpPr>
          <p:spPr>
            <a:xfrm>
              <a:off x="571500" y="3905250"/>
              <a:ext cx="4000500" cy="762000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762000" y="4048122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24242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Medlemmer: </a:t>
              </a:r>
              <a:endParaRPr b="0" sz="1400">
                <a:solidFill>
                  <a:srgbClr val="424242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903975" y="4208971"/>
              <a:ext cx="34776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Gustav - guan0002</a:t>
              </a:r>
              <a:b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Malik - magh0003</a:t>
              </a:r>
              <a:b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Micki - mimo0014</a:t>
              </a:r>
              <a:b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1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Søren - sora0002</a:t>
              </a:r>
              <a:endParaRPr sz="11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66" name="Google Shape;6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0"/>
            <a:ext cx="381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3980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lean, abstract architectural visualization with blue glass and white lines, professional and high-tech atmosphere, minimalist style." id="72" name="Google Shape;72;p15"/>
          <p:cNvPicPr preferRelativeResize="0"/>
          <p:nvPr/>
        </p:nvPicPr>
        <p:blipFill rotWithShape="1">
          <a:blip r:embed="rId3">
            <a:alphaModFix/>
          </a:blip>
          <a:srcRect b="0" l="19445" r="19445" t="0"/>
          <a:stretch/>
        </p:blipFill>
        <p:spPr>
          <a:xfrm>
            <a:off x="4953000" y="0"/>
            <a:ext cx="4191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1A237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71500" y="3810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7986C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71500" y="6667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9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Problemstilling &amp; Vision</a:t>
            </a:r>
            <a:endParaRPr b="1" sz="279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71500" y="13335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5"/>
          <p:cNvGrpSpPr/>
          <p:nvPr/>
        </p:nvGrpSpPr>
        <p:grpSpPr>
          <a:xfrm>
            <a:off x="571500" y="1619250"/>
            <a:ext cx="4000500" cy="714300"/>
            <a:chOff x="0" y="0"/>
            <a:chExt cx="4000500" cy="714300"/>
          </a:xfrm>
        </p:grpSpPr>
        <p:pic>
          <p:nvPicPr>
            <p:cNvPr id="78" name="Google Shape;7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0005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5"/>
            <p:cNvSpPr txBox="1"/>
            <p:nvPr/>
          </p:nvSpPr>
          <p:spPr>
            <a:xfrm>
              <a:off x="142875" y="95250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Udfordring</a:t>
              </a:r>
              <a:endParaRPr b="0" sz="148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42875" y="333375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Eksisterende tjenester som Addwish er lukket; mangel på simple, reklamefrie løsninger.</a:t>
              </a:r>
              <a:endParaRPr b="0" sz="102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571500" y="2428875"/>
            <a:ext cx="4000500" cy="714300"/>
            <a:chOff x="0" y="0"/>
            <a:chExt cx="4000500" cy="714300"/>
          </a:xfrm>
        </p:grpSpPr>
        <p:pic>
          <p:nvPicPr>
            <p:cNvPr id="82" name="Google Shape;8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0005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5"/>
            <p:cNvSpPr txBox="1"/>
            <p:nvPr/>
          </p:nvSpPr>
          <p:spPr>
            <a:xfrm>
              <a:off x="142875" y="95250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Løsning</a:t>
              </a:r>
              <a:endParaRPr b="0" sz="148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42875" y="333375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Webbaseret databaseapplikation til effektiv styring af personlige ønskesedler.</a:t>
              </a:r>
              <a:endParaRPr b="0" sz="102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571500" y="3238500"/>
            <a:ext cx="4000500" cy="714300"/>
            <a:chOff x="0" y="0"/>
            <a:chExt cx="4000500" cy="714300"/>
          </a:xfrm>
        </p:grpSpPr>
        <p:pic>
          <p:nvPicPr>
            <p:cNvPr id="86" name="Google Shape;8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0005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5"/>
            <p:cNvSpPr txBox="1"/>
            <p:nvPr/>
          </p:nvSpPr>
          <p:spPr>
            <a:xfrm>
              <a:off x="142875" y="95250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Mål (MVP)</a:t>
              </a:r>
              <a:endParaRPr b="0" sz="148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42875" y="333375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b="0" lang="en" sz="102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utomatiseret deployment i en</a:t>
              </a:r>
              <a:r>
                <a:rPr lang="en" sz="102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" sz="102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cloud-baseret løsning.</a:t>
              </a:r>
              <a:endParaRPr b="0" sz="102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571500" y="4048125"/>
            <a:ext cx="4000500" cy="714300"/>
            <a:chOff x="0" y="0"/>
            <a:chExt cx="4000500" cy="7143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42875" y="95250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3F51B5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Hovedfunktion</a:t>
              </a:r>
              <a:endParaRPr b="0" sz="1480">
                <a:solidFill>
                  <a:srgbClr val="3F51B5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42875" y="333375"/>
              <a:ext cx="371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424242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Oprettelse, visning og sletning af ønsker.</a:t>
              </a:r>
              <a:endParaRPr b="0" sz="1020">
                <a:solidFill>
                  <a:srgbClr val="424242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95400" y="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Klassediagram (System Arkitektur)</a:t>
            </a:r>
            <a:endParaRPr b="1" sz="240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2286000" y="13811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Generér et visuelt standard UML-klassediagram baseret på nedenstående specifikation. Diagrammet skal følge standard UML-notation, hvor hver klasse er en kasse opdelt i tre horisontale sektioner: 1. Klassenavn, 2. Attributter og 3. Operationer. Synlighed er angivet med '-' for private og '+' for public. Datatyper og returtyper er angivet efter et kolon.&#10;Klasse 1: User&#10;Attributter:&#10;- userId : int&#10;- username : String&#10;- password : String&#10;- email : String&#10;Operationer:&#10;+ User()&#10;+ User(userId : int, username : String, password : String, email : String)&#10;+ getUserId() : int&#10;+ setUserId(userId : int) : void&#10;+ getUsername() : String&#10;+ setUsername(username : String) : void&#10;+ getPassword() : String&#10;+ setPassword(password : String) : void&#10;+ getEmail() : String&#10;+ setEmail(email : String) : void&#10;Klasse 2: Wishlist&#10;Attributter:&#10;- wishlistId : int&#10;- userId : int&#10;- title : String&#10;- description : String&#10;Operationer:&#10;+ Wishlist()&#10;+ Wishlist(wishlistId : int, userId : int, title : String, description : String)&#10;+ getWishlistId() : int&#10;+ setWishlistId(wishlistId : int) : void&#10;+ getUserId() : int&#10;+ setUserId(userId : int) : void&#10;+ getTitle() : String&#10;+ setTitle(title : String) : void&#10;+ getDescription() : String&#10;+ setDescription(description : String) : void&#10;Klasse 3: Wish&#10;Attributter:&#10;- wishId : int&#10;- wishlistId : int&#10;- title : String&#10;- description : String&#10;- url : String&#10;- price : double&#10;- isReserved : boolean&#10;Operationer:&#10;+ Wish()&#10;+ getWishId() : int&#10;+ setWishId(wishId : int) : void&#10;+ getWishlistId() : int&#10;+ setWishlistId(wishlistId : int) : void&#10;+ getTitle() : String&#10;+ setTitle(title : String) : void&#10;+ getUrl() : String&#10;+ setUrl(url : String) : void&#10;+ getPrice() : double&#10;+ setPrice(price : double) : void&#10;+ isReserved() : boolean&#10;+ setReserved(reserved : boolean) : void&#10;Klasse 4: WishlistRepository&#10;Attributter:&#10;- jdbcTemplate : JdbcTemplate&#10;Operationer:&#10;+ WishlistRepository(jdbcTemplate : JdbcTemplate)&#10;+ findByUserId(userId : int) : List&lt;Wishlist&gt;&#10;+ findById(id : int) : Wishlist&#10;+ save(wishlist : Wishlist) : void&#10;+ findWishesByWishlistId(wishlistId : int) : List&lt;Wish&gt;&#10;+ addWish(wish : Wish) : void&#10;+ deleteWish(id : int) : void&#10;Klasse 5: WishlistController&#10;Attributter:&#10;- wishlistRepository : WishlistRepository&#10;Operationer:&#10;+ WishlistController(wishlistRepository : WishlistRepository)&#10;+ index() : String&#10;+ login(username : String, password : String, session : HttpSession) : String&#10;+ dashboard(session : HttpSession, model : Model) : String&#10;+ viewWishlist(id : int, model : Model, session : HttpSession) : String&#10;+ addWish(id : int, wish : Wish) : String&#10;+ logout(session : HttpSession) : String&#10;+ showCreateWishlist(session : HttpSession) : String&#10;+ createWishlist(title : String, description : String, session : HttpSession) : String&#10;+ deleteWish(id : int, request : HttpServletRequest) : String&#10;UML Relationer der skal tegnes i diagrammet:&#10;Association mellem User og Wishlist: Tegn en fuldtrukken linje (Association) fra User til Wishlist. Sæt kardinalitet '1' ved User og '0..*' ved Wishlist for at vise, at én bruger kan have nul eller flere ønskesedler.&#10;Aggregation mellem Wishlist og Wish (Whole-Part): Tegn en Aggregations-relation fra Wishlist til Wish. Dette markeres med en linje, der har en ikke-udfyldt rhombe/diamant (unfilled diamond) pegende ind mod Wishlist (helheden). Sæt kardinalitet '1' ved Wishlist og '0..*' ved Wish for at vise, at én ønskeseddel består af nul eller flere ønsker.&#10;Association mellem WishlistController og WishlistRepository: Tegn en fuldtrukken linje med en åben pil fra WishlistController til WishlistRepository, da Controlleren bruger Repository'et som en attribut.&#10;Dependency (Afhængighed): Tegn stiplede linjer (Dependency) med åbne pile fra WishlistRepository til User, Wishlist og Wish, da repository-klassen bruger disse som datatyper og returnerer dem fra dens operationer.&quot;"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00" y="339125"/>
            <a:ext cx="9048601" cy="48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95400" y="3810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lean, abstract architectural visualization with blue glass and white lines, professional and high-tech atmosphere, minimalist style."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19445" r="19445" t="0"/>
          <a:stretch/>
        </p:blipFill>
        <p:spPr>
          <a:xfrm>
            <a:off x="7553225" y="0"/>
            <a:ext cx="4191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7553225" y="0"/>
            <a:ext cx="1590900" cy="5143500"/>
          </a:xfrm>
          <a:prstGeom prst="rect">
            <a:avLst/>
          </a:prstGeom>
          <a:solidFill>
            <a:srgbClr val="1A237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571500" y="4762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ntity Relationship</a:t>
            </a: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 Model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571500" y="11430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571500" y="1524000"/>
            <a:ext cx="1714500" cy="1238400"/>
            <a:chOff x="571500" y="1524000"/>
            <a:chExt cx="1714500" cy="1238400"/>
          </a:xfrm>
        </p:grpSpPr>
        <p:sp>
          <p:nvSpPr>
            <p:cNvPr id="112" name="Google Shape;112;p17"/>
            <p:cNvSpPr/>
            <p:nvPr/>
          </p:nvSpPr>
          <p:spPr>
            <a:xfrm>
              <a:off x="571500" y="1524000"/>
              <a:ext cx="17145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3F51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571500" y="1524000"/>
              <a:ext cx="1714500" cy="333300"/>
            </a:xfrm>
            <a:prstGeom prst="roundRect">
              <a:avLst>
                <a:gd fmla="val 22857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571500" y="1524000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b="1" sz="14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714375" y="1905000"/>
              <a:ext cx="142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user_id (PK)</a:t>
              </a:r>
              <a:endParaRPr b="1" sz="925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username</a:t>
              </a:r>
              <a:endParaRPr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password</a:t>
              </a:r>
              <a:endParaRPr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email</a:t>
              </a:r>
              <a:endParaRPr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17"/>
          <p:cNvGrpSpPr/>
          <p:nvPr/>
        </p:nvGrpSpPr>
        <p:grpSpPr>
          <a:xfrm>
            <a:off x="2857500" y="1524000"/>
            <a:ext cx="1714500" cy="1238400"/>
            <a:chOff x="2857500" y="1524000"/>
            <a:chExt cx="1714500" cy="1238400"/>
          </a:xfrm>
        </p:grpSpPr>
        <p:sp>
          <p:nvSpPr>
            <p:cNvPr id="117" name="Google Shape;117;p17"/>
            <p:cNvSpPr/>
            <p:nvPr/>
          </p:nvSpPr>
          <p:spPr>
            <a:xfrm>
              <a:off x="2857500" y="1524000"/>
              <a:ext cx="17145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3F51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2857500" y="1524000"/>
              <a:ext cx="1714500" cy="333300"/>
            </a:xfrm>
            <a:prstGeom prst="roundRect">
              <a:avLst>
                <a:gd fmla="val 22857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2857500" y="1524000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wishlists</a:t>
              </a:r>
              <a:endParaRPr b="1" sz="14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3000375" y="1905000"/>
              <a:ext cx="142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wishlist_id (PK)</a:t>
              </a:r>
              <a:endParaRPr b="1" sz="925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925">
                  <a:solidFill>
                    <a:srgbClr val="7986CB"/>
                  </a:solidFill>
                  <a:latin typeface="Roboto"/>
                  <a:ea typeface="Roboto"/>
                  <a:cs typeface="Roboto"/>
                  <a:sym typeface="Roboto"/>
                </a:rPr>
                <a:t>user_id (FK)</a:t>
              </a:r>
              <a:endParaRPr i="1" sz="925">
                <a:solidFill>
                  <a:srgbClr val="7986C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title</a:t>
              </a:r>
              <a:endParaRPr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description</a:t>
              </a:r>
              <a:endParaRPr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5143500" y="1524000"/>
            <a:ext cx="1714500" cy="1524000"/>
            <a:chOff x="2857500" y="3238500"/>
            <a:chExt cx="1714500" cy="1524000"/>
          </a:xfrm>
        </p:grpSpPr>
        <p:sp>
          <p:nvSpPr>
            <p:cNvPr id="122" name="Google Shape;122;p17"/>
            <p:cNvSpPr/>
            <p:nvPr/>
          </p:nvSpPr>
          <p:spPr>
            <a:xfrm>
              <a:off x="2857500" y="3238500"/>
              <a:ext cx="17145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3F51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2857500" y="3238500"/>
              <a:ext cx="1714500" cy="333300"/>
            </a:xfrm>
            <a:prstGeom prst="roundRect">
              <a:avLst>
                <a:gd fmla="val 22856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2857500" y="3238500"/>
              <a:ext cx="1714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wishes</a:t>
              </a:r>
              <a:endParaRPr b="1" i="0" sz="1400" u="none" strike="noStrike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3000375" y="3619500"/>
              <a:ext cx="1428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25" u="none" strike="noStrike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wish_id (PK)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25" u="none" strike="noStrike">
                  <a:solidFill>
                    <a:srgbClr val="7986CB"/>
                  </a:solidFill>
                  <a:latin typeface="Roboto"/>
                  <a:ea typeface="Roboto"/>
                  <a:cs typeface="Roboto"/>
                  <a:sym typeface="Roboto"/>
                </a:rPr>
                <a:t>wishlist_id (FK)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25" u="none" strike="noStrike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title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25" u="none" strike="noStrike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description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25" u="none" strike="noStrike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url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25" u="none" strike="noStrike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price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25" u="none" strike="noStrike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is_reserved</a:t>
              </a:r>
              <a:endParaRPr b="1" i="0" sz="925" u="none" strike="noStrike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133600"/>
            <a:ext cx="571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2305050" y="2114550"/>
            <a:ext cx="57300" cy="5730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7488" y="2085975"/>
            <a:ext cx="114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7"/>
          <p:cNvGrpSpPr/>
          <p:nvPr/>
        </p:nvGrpSpPr>
        <p:grpSpPr>
          <a:xfrm>
            <a:off x="571500" y="3238650"/>
            <a:ext cx="6372000" cy="1714350"/>
            <a:chOff x="571500" y="3238650"/>
            <a:chExt cx="6372000" cy="1714350"/>
          </a:xfrm>
        </p:grpSpPr>
        <p:sp>
          <p:nvSpPr>
            <p:cNvPr id="130" name="Google Shape;130;p17"/>
            <p:cNvSpPr/>
            <p:nvPr/>
          </p:nvSpPr>
          <p:spPr>
            <a:xfrm>
              <a:off x="571500" y="3810000"/>
              <a:ext cx="4000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571500" y="3238650"/>
              <a:ext cx="6372000" cy="17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Relationer og Struktur</a:t>
              </a:r>
              <a:endParaRPr b="1" sz="935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Modellen illustrerer kernefunktionaliteten i systemet</a:t>
              </a:r>
              <a:r>
                <a:rPr lang="en" sz="93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. En bruger kan have flere ønskesedler</a:t>
              </a:r>
              <a:r>
                <a:rPr lang="en" sz="93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(1:N relation)</a:t>
              </a:r>
              <a:r>
                <a:rPr lang="en" sz="93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, hvilket gør det muligt at adskille gaver til forskellige anledninger.</a:t>
              </a:r>
              <a:endParaRPr sz="93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Hver ønskeseddel indeholder flere specifikke ønsker (1:N r</a:t>
              </a:r>
              <a:r>
                <a:rPr lang="en" sz="93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elation), hvor detaljer som pris og reservationsstatus spores for at undgå dubletter.</a:t>
              </a:r>
              <a:endParaRPr sz="93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133675"/>
            <a:ext cx="5715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4591050" y="2114625"/>
            <a:ext cx="57300" cy="57300"/>
          </a:xfrm>
          <a:prstGeom prst="ellipse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3488" y="2086050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8"/>
          <p:cNvGrpSpPr/>
          <p:nvPr/>
        </p:nvGrpSpPr>
        <p:grpSpPr>
          <a:xfrm>
            <a:off x="4943475" y="0"/>
            <a:ext cx="5524500" cy="5143500"/>
            <a:chOff x="-1333500" y="0"/>
            <a:chExt cx="5524500" cy="5143500"/>
          </a:xfrm>
        </p:grpSpPr>
        <p:pic>
          <p:nvPicPr>
            <p:cNvPr id="141" name="Google Shape;141;p18"/>
            <p:cNvPicPr preferRelativeResize="0"/>
            <p:nvPr/>
          </p:nvPicPr>
          <p:blipFill rotWithShape="1">
            <a:blip r:embed="rId3">
              <a:alphaModFix/>
            </a:blip>
            <a:srcRect b="0" l="3331" r="39630" t="0"/>
            <a:stretch/>
          </p:blipFill>
          <p:spPr>
            <a:xfrm>
              <a:off x="-1333500" y="0"/>
              <a:ext cx="4191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8"/>
            <p:cNvSpPr/>
            <p:nvPr/>
          </p:nvSpPr>
          <p:spPr>
            <a:xfrm>
              <a:off x="0" y="0"/>
              <a:ext cx="4191000" cy="5143500"/>
            </a:xfrm>
            <a:prstGeom prst="rect">
              <a:avLst/>
            </a:prstGeom>
            <a:solidFill>
              <a:srgbClr val="1A237E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8"/>
          <p:cNvSpPr txBox="1"/>
          <p:nvPr/>
        </p:nvSpPr>
        <p:spPr>
          <a:xfrm>
            <a:off x="571500" y="3810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7986C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6667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8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Feasibility-analyse (TELOS)</a:t>
            </a:r>
            <a:endParaRPr b="1" sz="238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71500" y="13335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18"/>
          <p:cNvGrpSpPr/>
          <p:nvPr/>
        </p:nvGrpSpPr>
        <p:grpSpPr>
          <a:xfrm>
            <a:off x="571500" y="1571625"/>
            <a:ext cx="1905000" cy="1000200"/>
            <a:chOff x="571500" y="1571625"/>
            <a:chExt cx="1905000" cy="1000200"/>
          </a:xfrm>
        </p:grpSpPr>
        <p:sp>
          <p:nvSpPr>
            <p:cNvPr id="147" name="Google Shape;147;p18"/>
            <p:cNvSpPr/>
            <p:nvPr/>
          </p:nvSpPr>
          <p:spPr>
            <a:xfrm>
              <a:off x="571500" y="1571625"/>
              <a:ext cx="1905000" cy="1000200"/>
            </a:xfrm>
            <a:prstGeom prst="roundRect">
              <a:avLst>
                <a:gd fmla="val 7619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714375" y="1666875"/>
              <a:ext cx="16191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Teknisk (T)</a:t>
              </a:r>
              <a:endParaRPr b="0" sz="140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714375" y="195262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Java 21, Spring Boot, MySQL. CI/CD via GitHub Actions til Azure (Web App &amp; Docker VM).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2667000" y="1571625"/>
            <a:ext cx="1905000" cy="1000200"/>
            <a:chOff x="2667000" y="1571625"/>
            <a:chExt cx="1905000" cy="1000200"/>
          </a:xfrm>
        </p:grpSpPr>
        <p:sp>
          <p:nvSpPr>
            <p:cNvPr id="151" name="Google Shape;151;p18"/>
            <p:cNvSpPr/>
            <p:nvPr/>
          </p:nvSpPr>
          <p:spPr>
            <a:xfrm>
              <a:off x="2667000" y="1571625"/>
              <a:ext cx="1905000" cy="1000200"/>
            </a:xfrm>
            <a:prstGeom prst="roundRect">
              <a:avLst>
                <a:gd fmla="val 7619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2809875" y="1666875"/>
              <a:ext cx="16191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Økonomisk (E)</a:t>
              </a:r>
              <a:endParaRPr b="0" sz="140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2809875" y="195262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Omkostningsfrit. Bruger </a:t>
              </a:r>
              <a:r>
                <a:rPr b="0" i="1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Azure for Students</a:t>
              </a: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og GitHub.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571500" y="2714625"/>
            <a:ext cx="1905000" cy="1000200"/>
            <a:chOff x="571500" y="2714625"/>
            <a:chExt cx="1905000" cy="1000200"/>
          </a:xfrm>
        </p:grpSpPr>
        <p:sp>
          <p:nvSpPr>
            <p:cNvPr id="155" name="Google Shape;155;p18"/>
            <p:cNvSpPr/>
            <p:nvPr/>
          </p:nvSpPr>
          <p:spPr>
            <a:xfrm>
              <a:off x="571500" y="2714625"/>
              <a:ext cx="1905000" cy="1000200"/>
            </a:xfrm>
            <a:prstGeom prst="roundRect">
              <a:avLst>
                <a:gd fmla="val 7619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714375" y="2809875"/>
              <a:ext cx="16191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Juridisk (L)</a:t>
              </a:r>
              <a:endParaRPr b="0" sz="140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714375" y="309562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GDPR-compliance. Minimering af persondata (kun login). Sikker password-validering.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2667000" y="2714625"/>
            <a:ext cx="1905000" cy="1000200"/>
            <a:chOff x="2667000" y="2714625"/>
            <a:chExt cx="1905000" cy="1000200"/>
          </a:xfrm>
        </p:grpSpPr>
        <p:sp>
          <p:nvSpPr>
            <p:cNvPr id="159" name="Google Shape;159;p18"/>
            <p:cNvSpPr/>
            <p:nvPr/>
          </p:nvSpPr>
          <p:spPr>
            <a:xfrm>
              <a:off x="2667000" y="2714625"/>
              <a:ext cx="1905000" cy="1000200"/>
            </a:xfrm>
            <a:prstGeom prst="roundRect">
              <a:avLst>
                <a:gd fmla="val 7619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2809875" y="2809875"/>
              <a:ext cx="16191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A237E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Operationelt (O)</a:t>
              </a:r>
              <a:endParaRPr b="0" sz="1400">
                <a:solidFill>
                  <a:srgbClr val="1A237E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2809875" y="3095625"/>
              <a:ext cx="1619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Intuitiv UI. 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Selvforklarende applikation uden manual.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571500" y="3857625"/>
            <a:ext cx="4000500" cy="904800"/>
            <a:chOff x="571500" y="3857625"/>
            <a:chExt cx="4000500" cy="904800"/>
          </a:xfrm>
        </p:grpSpPr>
        <p:sp>
          <p:nvSpPr>
            <p:cNvPr id="163" name="Google Shape;163;p18"/>
            <p:cNvSpPr/>
            <p:nvPr/>
          </p:nvSpPr>
          <p:spPr>
            <a:xfrm>
              <a:off x="571500" y="3857625"/>
              <a:ext cx="4000500" cy="904800"/>
            </a:xfrm>
            <a:prstGeom prst="roundRect">
              <a:avLst>
                <a:gd fmla="val 8421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714375" y="3952875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F51B5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Tidsmæssigt (S)</a:t>
              </a:r>
              <a:endParaRPr b="0" sz="1400">
                <a:solidFill>
                  <a:srgbClr val="3F51B5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714375" y="4238625"/>
              <a:ext cx="3714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24242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2</a:t>
              </a:r>
              <a:r>
                <a:rPr b="0" lang="en" sz="925">
                  <a:solidFill>
                    <a:srgbClr val="424242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 </a:t>
              </a:r>
              <a:r>
                <a:rPr lang="en" sz="925">
                  <a:solidFill>
                    <a:srgbClr val="424242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ugers </a:t>
              </a:r>
              <a:r>
                <a:rPr b="0" lang="en" sz="925">
                  <a:solidFill>
                    <a:srgbClr val="424242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periode. Status: MVP og CI/CD er fuldt operationelt.</a:t>
              </a:r>
              <a:endParaRPr b="0" sz="925">
                <a:solidFill>
                  <a:srgbClr val="424242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285750"/>
            <a:ext cx="400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Udvidet Risikoanalyse</a:t>
            </a:r>
            <a:endParaRPr b="1" sz="240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809625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19"/>
          <p:cNvGrpSpPr/>
          <p:nvPr/>
        </p:nvGrpSpPr>
        <p:grpSpPr>
          <a:xfrm>
            <a:off x="571500" y="1047750"/>
            <a:ext cx="8191500" cy="333300"/>
            <a:chOff x="571500" y="1047750"/>
            <a:chExt cx="8191500" cy="333300"/>
          </a:xfrm>
        </p:grpSpPr>
        <p:sp>
          <p:nvSpPr>
            <p:cNvPr id="174" name="Google Shape;174;p19"/>
            <p:cNvSpPr/>
            <p:nvPr/>
          </p:nvSpPr>
          <p:spPr>
            <a:xfrm>
              <a:off x="571500" y="1047750"/>
              <a:ext cx="8191500" cy="33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619125" y="1047750"/>
              <a:ext cx="1524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Risiko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2190750" y="1047750"/>
              <a:ext cx="4287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S (1-5)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2667000" y="1047750"/>
              <a:ext cx="4287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K (1-5)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3143250" y="1047750"/>
              <a:ext cx="571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Faktor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3762375" y="1047750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Reducer sandsynlighed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5524500" y="1047750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Reducer konsekvens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7286625" y="1047750"/>
              <a:ext cx="1428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A237E"/>
                  </a:solidFill>
                  <a:highlight>
                    <a:srgbClr val="E8EAF6"/>
                  </a:highlight>
                  <a:latin typeface="Roboto"/>
                  <a:ea typeface="Roboto"/>
                  <a:cs typeface="Roboto"/>
                  <a:sym typeface="Roboto"/>
                </a:rPr>
                <a:t>Omkostninger</a:t>
              </a:r>
              <a:endParaRPr b="1" sz="800">
                <a:solidFill>
                  <a:srgbClr val="1A237E"/>
                </a:solidFill>
                <a:highlight>
                  <a:srgbClr val="E8EAF6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2" name="Google Shape;182;p19"/>
          <p:cNvGrpSpPr/>
          <p:nvPr/>
        </p:nvGrpSpPr>
        <p:grpSpPr>
          <a:xfrm>
            <a:off x="571500" y="1428750"/>
            <a:ext cx="8191500" cy="619200"/>
            <a:chOff x="571500" y="0"/>
            <a:chExt cx="8191500" cy="619200"/>
          </a:xfrm>
        </p:grpSpPr>
        <p:sp>
          <p:nvSpPr>
            <p:cNvPr id="183" name="Google Shape;183;p19"/>
            <p:cNvSpPr/>
            <p:nvPr/>
          </p:nvSpPr>
          <p:spPr>
            <a:xfrm>
              <a:off x="571500" y="0"/>
              <a:ext cx="8191500" cy="619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619125" y="476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W1: Database &amp; SQL</a:t>
              </a:r>
              <a:endParaRPr b="1" sz="8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219075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266700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314325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b="1"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3762375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Test scripts lokalt; Spring Boot logning.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524500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Backup local-database til demo.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7286625" y="47625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Lav</a:t>
              </a: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(tid til konf.)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571500" y="2095500"/>
            <a:ext cx="8191500" cy="619200"/>
            <a:chOff x="571500" y="0"/>
            <a:chExt cx="8191500" cy="619200"/>
          </a:xfrm>
        </p:grpSpPr>
        <p:sp>
          <p:nvSpPr>
            <p:cNvPr id="192" name="Google Shape;192;p19"/>
            <p:cNvSpPr/>
            <p:nvPr/>
          </p:nvSpPr>
          <p:spPr>
            <a:xfrm>
              <a:off x="571500" y="0"/>
              <a:ext cx="8191500" cy="619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619125" y="476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W2: Sikkerhedsbrud</a:t>
              </a:r>
              <a:endParaRPr b="1" sz="8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219075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266700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314325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b="1"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3762375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Valider session i Controller.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5524500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Fejlretning; nulstilling af session.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7286625" y="47625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Mellem</a:t>
              </a: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(sikkerhedstest)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0" name="Google Shape;200;p19"/>
          <p:cNvGrpSpPr/>
          <p:nvPr/>
        </p:nvGrpSpPr>
        <p:grpSpPr>
          <a:xfrm>
            <a:off x="571500" y="2762250"/>
            <a:ext cx="8191500" cy="619200"/>
            <a:chOff x="571500" y="0"/>
            <a:chExt cx="8191500" cy="619200"/>
          </a:xfrm>
        </p:grpSpPr>
        <p:sp>
          <p:nvSpPr>
            <p:cNvPr id="201" name="Google Shape;201;p19"/>
            <p:cNvSpPr/>
            <p:nvPr/>
          </p:nvSpPr>
          <p:spPr>
            <a:xfrm>
              <a:off x="571500" y="0"/>
              <a:ext cx="8191500" cy="619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619125" y="476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W3: Deployment/Azure</a:t>
              </a:r>
              <a:endParaRPr b="1" sz="8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219075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266700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314325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16</a:t>
              </a:r>
              <a:endParaRPr b="1"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3762375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Manuelle deployments tidligt.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5524500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Dokumenter fallback steps.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286625" y="47625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Mellem</a:t>
              </a: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(portal-fejlfinding)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9" name="Google Shape;209;p19"/>
          <p:cNvGrpSpPr/>
          <p:nvPr/>
        </p:nvGrpSpPr>
        <p:grpSpPr>
          <a:xfrm>
            <a:off x="571500" y="3429000"/>
            <a:ext cx="8191500" cy="619200"/>
            <a:chOff x="571500" y="0"/>
            <a:chExt cx="8191500" cy="619200"/>
          </a:xfrm>
        </p:grpSpPr>
        <p:sp>
          <p:nvSpPr>
            <p:cNvPr id="210" name="Google Shape;210;p19"/>
            <p:cNvSpPr/>
            <p:nvPr/>
          </p:nvSpPr>
          <p:spPr>
            <a:xfrm>
              <a:off x="571500" y="0"/>
              <a:ext cx="8191500" cy="619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619125" y="476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T1: Merge-konflikter</a:t>
              </a:r>
              <a:endParaRPr b="1" sz="8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219075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266700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314325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12</a:t>
              </a:r>
              <a:endParaRPr b="1"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3762375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Daglige Scrum; hyppige commits.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5524500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Skarp opgaveopdeling.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7286625" y="47625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Lav</a:t>
              </a: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(disciplin)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4095750"/>
            <a:ext cx="8191500" cy="619200"/>
            <a:chOff x="571500" y="0"/>
            <a:chExt cx="8191500" cy="619200"/>
          </a:xfrm>
        </p:grpSpPr>
        <p:sp>
          <p:nvSpPr>
            <p:cNvPr id="219" name="Google Shape;219;p19"/>
            <p:cNvSpPr/>
            <p:nvPr/>
          </p:nvSpPr>
          <p:spPr>
            <a:xfrm>
              <a:off x="571500" y="0"/>
              <a:ext cx="8191500" cy="619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619125" y="47625"/>
              <a:ext cx="1524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T2: Scope Creep</a:t>
              </a:r>
              <a:endParaRPr b="1" sz="800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219075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2667000" y="0"/>
              <a:ext cx="428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314325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b="1"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3762375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Kanban &amp; MVP-prioritering.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524500" y="47625"/>
              <a:ext cx="17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Skær visuelle detaljer væk.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7286625" y="47625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Lav</a:t>
              </a:r>
              <a:r>
                <a:rPr lang="en" sz="80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(prioritering)</a:t>
              </a:r>
              <a:endParaRPr sz="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, high-tech visualization of a database schema with glowing lines connecting data nodes, minimalist blue and white aesthetic, clean architectural style.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19445" r="19445" t="0"/>
          <a:stretch/>
        </p:blipFill>
        <p:spPr>
          <a:xfrm>
            <a:off x="4953000" y="0"/>
            <a:ext cx="4191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1A237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71500" y="3810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18">
              <a:solidFill>
                <a:srgbClr val="7986C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71500" y="6667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Database-design</a:t>
            </a:r>
            <a:endParaRPr b="1" sz="280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71500" y="13335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20"/>
          <p:cNvGrpSpPr/>
          <p:nvPr/>
        </p:nvGrpSpPr>
        <p:grpSpPr>
          <a:xfrm>
            <a:off x="571500" y="1571625"/>
            <a:ext cx="4000500" cy="666900"/>
            <a:chOff x="571500" y="1571625"/>
            <a:chExt cx="4000500" cy="666900"/>
          </a:xfrm>
        </p:grpSpPr>
        <p:sp>
          <p:nvSpPr>
            <p:cNvPr id="238" name="Google Shape;238;p20"/>
            <p:cNvSpPr/>
            <p:nvPr/>
          </p:nvSpPr>
          <p:spPr>
            <a:xfrm>
              <a:off x="571500" y="1571625"/>
              <a:ext cx="4000500" cy="666900"/>
            </a:xfrm>
            <a:prstGeom prst="roundRect">
              <a:avLst>
                <a:gd fmla="val 11428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714375" y="1666875"/>
              <a:ext cx="3714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F51B5"/>
                  </a:solidFill>
                  <a:latin typeface="Roboto"/>
                  <a:ea typeface="Roboto"/>
                  <a:cs typeface="Roboto"/>
                  <a:sym typeface="Roboto"/>
                </a:rPr>
                <a:t>Teknologi &amp; Struktur</a:t>
              </a:r>
              <a:endParaRPr b="1" sz="1018">
                <a:solidFill>
                  <a:srgbClr val="3F51B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Normaliseret MySQL-database implementeret i </a:t>
              </a:r>
              <a:r>
                <a:rPr b="1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3. normalform (3NF)</a:t>
              </a: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for at sikre dataintegritet og minimere redundans.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571500" y="2333625"/>
            <a:ext cx="4000500" cy="714300"/>
            <a:chOff x="571500" y="2333625"/>
            <a:chExt cx="4000500" cy="714300"/>
          </a:xfrm>
        </p:grpSpPr>
        <p:sp>
          <p:nvSpPr>
            <p:cNvPr id="241" name="Google Shape;241;p20"/>
            <p:cNvSpPr/>
            <p:nvPr/>
          </p:nvSpPr>
          <p:spPr>
            <a:xfrm>
              <a:off x="571500" y="2333625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771525" y="2652713"/>
              <a:ext cx="76200" cy="76200"/>
            </a:xfrm>
            <a:prstGeom prst="ellipse">
              <a:avLst/>
            </a:prstGeom>
            <a:solidFill>
              <a:srgbClr val="3F51B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952500" y="2428875"/>
              <a:ext cx="3476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b="1" sz="1295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Gemmer profiloplysninger og autentificeringsdata for applikationens brugere.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" name="Google Shape;244;p20"/>
          <p:cNvGrpSpPr/>
          <p:nvPr/>
        </p:nvGrpSpPr>
        <p:grpSpPr>
          <a:xfrm>
            <a:off x="571500" y="3143250"/>
            <a:ext cx="4000500" cy="714300"/>
            <a:chOff x="571500" y="3143250"/>
            <a:chExt cx="4000500" cy="714300"/>
          </a:xfrm>
        </p:grpSpPr>
        <p:sp>
          <p:nvSpPr>
            <p:cNvPr id="245" name="Google Shape;245;p20"/>
            <p:cNvSpPr/>
            <p:nvPr/>
          </p:nvSpPr>
          <p:spPr>
            <a:xfrm>
              <a:off x="571500" y="3143250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771525" y="3462338"/>
              <a:ext cx="76200" cy="76200"/>
            </a:xfrm>
            <a:prstGeom prst="ellipse">
              <a:avLst/>
            </a:prstGeom>
            <a:solidFill>
              <a:srgbClr val="3F51B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952500" y="3238500"/>
              <a:ext cx="3476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Wishlists</a:t>
              </a:r>
              <a:endParaRPr b="1" sz="1295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Relateret til en User (</a:t>
              </a:r>
              <a:r>
                <a:rPr b="1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1:N</a:t>
              </a: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). Indeholder samlinger af personlige ønsker.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571500" y="3952875"/>
            <a:ext cx="4000500" cy="904800"/>
            <a:chOff x="571500" y="3952875"/>
            <a:chExt cx="4000500" cy="904800"/>
          </a:xfrm>
        </p:grpSpPr>
        <p:sp>
          <p:nvSpPr>
            <p:cNvPr id="249" name="Google Shape;249;p20"/>
            <p:cNvSpPr/>
            <p:nvPr/>
          </p:nvSpPr>
          <p:spPr>
            <a:xfrm>
              <a:off x="571500" y="3952875"/>
              <a:ext cx="4000500" cy="904800"/>
            </a:xfrm>
            <a:prstGeom prst="roundRect">
              <a:avLst>
                <a:gd fmla="val 8421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771525" y="4367213"/>
              <a:ext cx="76200" cy="76200"/>
            </a:xfrm>
            <a:prstGeom prst="ellipse">
              <a:avLst/>
            </a:prstGeom>
            <a:solidFill>
              <a:srgbClr val="3F51B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952500" y="4048125"/>
              <a:ext cx="34767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Wishes</a:t>
              </a:r>
              <a:endParaRPr b="1" sz="1295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Relateret til en Wishlist (</a:t>
              </a:r>
              <a:r>
                <a:rPr b="1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1:N</a:t>
              </a:r>
              <a:r>
                <a:rPr b="0" lang="en" sz="925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). Indeholder felter for pris, URL, beskrivelse og reservationsstatus.</a:t>
              </a:r>
              <a:endParaRPr b="0" sz="925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futuristic digital DevOps pipeline illustration with glowing nodes and data flow, representing continuous integration and deployment, high-tech blue and white aesthetic.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19445" r="19445" t="0"/>
          <a:stretch/>
        </p:blipFill>
        <p:spPr>
          <a:xfrm>
            <a:off x="4953000" y="0"/>
            <a:ext cx="4191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1A237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71500" y="3810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7986C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6667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Deployment og CI/CD</a:t>
            </a:r>
            <a:endParaRPr b="1" sz="280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71500" y="13335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21"/>
          <p:cNvGrpSpPr/>
          <p:nvPr/>
        </p:nvGrpSpPr>
        <p:grpSpPr>
          <a:xfrm>
            <a:off x="571500" y="1571625"/>
            <a:ext cx="4000500" cy="714300"/>
            <a:chOff x="571500" y="1571625"/>
            <a:chExt cx="4000500" cy="714300"/>
          </a:xfrm>
        </p:grpSpPr>
        <p:sp>
          <p:nvSpPr>
            <p:cNvPr id="263" name="Google Shape;263;p21"/>
            <p:cNvSpPr/>
            <p:nvPr/>
          </p:nvSpPr>
          <p:spPr>
            <a:xfrm>
              <a:off x="571500" y="1571625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714375" y="1666875"/>
              <a:ext cx="371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Pipeline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Fuldautomatisk samlebånd via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GitHub Actions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5" name="Google Shape;265;p21"/>
          <p:cNvGrpSpPr/>
          <p:nvPr/>
        </p:nvGrpSpPr>
        <p:grpSpPr>
          <a:xfrm>
            <a:off x="571500" y="2381250"/>
            <a:ext cx="4000500" cy="714300"/>
            <a:chOff x="571500" y="2381250"/>
            <a:chExt cx="4000500" cy="714300"/>
          </a:xfrm>
        </p:grpSpPr>
        <p:sp>
          <p:nvSpPr>
            <p:cNvPr id="266" name="Google Shape;266;p21"/>
            <p:cNvSpPr/>
            <p:nvPr/>
          </p:nvSpPr>
          <p:spPr>
            <a:xfrm>
              <a:off x="571500" y="2381250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714375" y="2476500"/>
              <a:ext cx="371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Build &amp; Test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Hvert push til main trigger build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og pakning af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.jar fil.</a:t>
              </a:r>
              <a:endParaRPr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8" name="Google Shape;268;p21"/>
          <p:cNvGrpSpPr/>
          <p:nvPr/>
        </p:nvGrpSpPr>
        <p:grpSpPr>
          <a:xfrm>
            <a:off x="571500" y="3190875"/>
            <a:ext cx="4000500" cy="714300"/>
            <a:chOff x="571500" y="3190875"/>
            <a:chExt cx="4000500" cy="714300"/>
          </a:xfrm>
        </p:grpSpPr>
        <p:sp>
          <p:nvSpPr>
            <p:cNvPr id="269" name="Google Shape;269;p21"/>
            <p:cNvSpPr/>
            <p:nvPr/>
          </p:nvSpPr>
          <p:spPr>
            <a:xfrm>
              <a:off x="571500" y="3190875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714375" y="3286125"/>
              <a:ext cx="371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Deploy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Azure Web App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modtager automatisk den nye version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og aktiverer den opdaterede Web App</a:t>
              </a:r>
              <a:endParaRPr b="0"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571500" y="4000500"/>
            <a:ext cx="4000500" cy="809700"/>
            <a:chOff x="571500" y="4000500"/>
            <a:chExt cx="4000500" cy="809700"/>
          </a:xfrm>
        </p:grpSpPr>
        <p:sp>
          <p:nvSpPr>
            <p:cNvPr id="272" name="Google Shape;272;p21"/>
            <p:cNvSpPr/>
            <p:nvPr/>
          </p:nvSpPr>
          <p:spPr>
            <a:xfrm>
              <a:off x="571500" y="4000500"/>
              <a:ext cx="4000500" cy="809700"/>
            </a:xfrm>
            <a:prstGeom prst="roundRect">
              <a:avLst>
                <a:gd fmla="val 9411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714375" y="4095750"/>
              <a:ext cx="37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Cloud Infrastruktur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Applikation på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Azure App Service; 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Database i en Docker-container på en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Azure Ubuntu VM.</a:t>
              </a:r>
              <a:endParaRPr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risp, high-quality photograph of a modern laptop screen displaying a clean web application interface with colorful dashboard elements, set in a bright, minimalist professional environment with blue and white tones." id="279" name="Google Shape;279;p22"/>
          <p:cNvPicPr preferRelativeResize="0"/>
          <p:nvPr/>
        </p:nvPicPr>
        <p:blipFill rotWithShape="1">
          <a:blip r:embed="rId3">
            <a:alphaModFix/>
          </a:blip>
          <a:srcRect b="0" l="0" r="38890" t="0"/>
          <a:stretch/>
        </p:blipFill>
        <p:spPr>
          <a:xfrm>
            <a:off x="4953000" y="0"/>
            <a:ext cx="4191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80" name="Google Shape;280;p22"/>
          <p:cNvSpPr/>
          <p:nvPr/>
        </p:nvSpPr>
        <p:spPr>
          <a:xfrm>
            <a:off x="4953000" y="0"/>
            <a:ext cx="4191000" cy="5143500"/>
          </a:xfrm>
          <a:prstGeom prst="rect">
            <a:avLst/>
          </a:prstGeom>
          <a:solidFill>
            <a:srgbClr val="1A237E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571500" y="381000"/>
            <a:ext cx="400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7986C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571500" y="6667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Konklusion </a:t>
            </a:r>
            <a:r>
              <a:rPr b="1" lang="en" sz="28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rPr>
              <a:t>&amp; Status</a:t>
            </a:r>
            <a:endParaRPr b="1" sz="2800">
              <a:solidFill>
                <a:srgbClr val="1A237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71500" y="1333500"/>
            <a:ext cx="571500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22"/>
          <p:cNvGrpSpPr/>
          <p:nvPr/>
        </p:nvGrpSpPr>
        <p:grpSpPr>
          <a:xfrm>
            <a:off x="571500" y="1571625"/>
            <a:ext cx="4000500" cy="714300"/>
            <a:chOff x="571500" y="1571625"/>
            <a:chExt cx="4000500" cy="714300"/>
          </a:xfrm>
        </p:grpSpPr>
        <p:sp>
          <p:nvSpPr>
            <p:cNvPr id="285" name="Google Shape;285;p22"/>
            <p:cNvSpPr/>
            <p:nvPr/>
          </p:nvSpPr>
          <p:spPr>
            <a:xfrm>
              <a:off x="571500" y="1571625"/>
              <a:ext cx="4000500" cy="714300"/>
            </a:xfrm>
            <a:prstGeom prst="roundRect">
              <a:avLst>
                <a:gd fmla="val 10666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714375" y="1666875"/>
              <a:ext cx="371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Live Status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Applikationen kører live på </a:t>
              </a:r>
              <a:r>
                <a:rPr b="1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Azure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og er tilgængelig for slutbrugere nu.</a:t>
              </a:r>
              <a:endParaRPr b="0"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571500" y="2381250"/>
            <a:ext cx="4000500" cy="1428900"/>
            <a:chOff x="571500" y="2381250"/>
            <a:chExt cx="4000500" cy="1428900"/>
          </a:xfrm>
        </p:grpSpPr>
        <p:sp>
          <p:nvSpPr>
            <p:cNvPr id="288" name="Google Shape;288;p22"/>
            <p:cNvSpPr/>
            <p:nvPr/>
          </p:nvSpPr>
          <p:spPr>
            <a:xfrm>
              <a:off x="571500" y="238125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714375" y="2476500"/>
              <a:ext cx="3714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Funktionalitet (MVP)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Login: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Tjekker login information mod databasen (usikkert)</a:t>
              </a:r>
              <a:endParaRPr b="0"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Ønskesedler: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Oprettelse og visning af lister </a:t>
              </a:r>
              <a:r>
                <a:rPr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fungerer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Administration: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Sletning af ønsker er fuldt implementeret.</a:t>
              </a:r>
              <a:endParaRPr b="0"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571500" y="3905250"/>
            <a:ext cx="4000500" cy="809700"/>
            <a:chOff x="571500" y="3905250"/>
            <a:chExt cx="4000500" cy="809700"/>
          </a:xfrm>
        </p:grpSpPr>
        <p:sp>
          <p:nvSpPr>
            <p:cNvPr id="291" name="Google Shape;291;p22"/>
            <p:cNvSpPr/>
            <p:nvPr/>
          </p:nvSpPr>
          <p:spPr>
            <a:xfrm>
              <a:off x="571500" y="3905250"/>
              <a:ext cx="4000500" cy="809700"/>
            </a:xfrm>
            <a:prstGeom prst="roundRect">
              <a:avLst>
                <a:gd fmla="val 9411" name="adj"/>
              </a:avLst>
            </a:prstGeom>
            <a:solidFill>
              <a:srgbClr val="E8EA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714375" y="4000500"/>
              <a:ext cx="37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237E"/>
                  </a:solidFill>
                  <a:latin typeface="Roboto"/>
                  <a:ea typeface="Roboto"/>
                  <a:cs typeface="Roboto"/>
                  <a:sym typeface="Roboto"/>
                </a:rPr>
                <a:t>Under Udvikling</a:t>
              </a:r>
              <a:endParaRPr b="1" sz="1300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Ekstra features som </a:t>
              </a:r>
              <a:r>
                <a:rPr b="1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delt link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og </a:t>
              </a:r>
              <a:r>
                <a:rPr b="1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reservation</a:t>
              </a:r>
              <a:r>
                <a:rPr b="0" lang="en" sz="950">
                  <a:solidFill>
                    <a:srgbClr val="424242"/>
                  </a:solidFill>
                  <a:latin typeface="Roboto"/>
                  <a:ea typeface="Roboto"/>
                  <a:cs typeface="Roboto"/>
                  <a:sym typeface="Roboto"/>
                </a:rPr>
                <a:t> af ønsker er i gang med at blive implementeret for en forbedret brugeroplevelse.</a:t>
              </a:r>
              <a:endParaRPr b="0" sz="95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